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1"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16E44-C09B-57D0-1306-6AE331B430C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C94D114-FB6F-CC94-8044-D662B98AE4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2BF2AC8-B0D8-1E19-3F2C-8B632193673D}"/>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5" name="Footer Placeholder 4">
            <a:extLst>
              <a:ext uri="{FF2B5EF4-FFF2-40B4-BE49-F238E27FC236}">
                <a16:creationId xmlns:a16="http://schemas.microsoft.com/office/drawing/2014/main" id="{7F9BB6D0-3E8E-AAD4-A69C-BE0E77C924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6F7065-9187-1EFF-7A7B-DDEDDC154938}"/>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3756590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766AA-ED7E-9DDD-A2E9-20D4DD94FB7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85654AD-068A-D548-239D-54D22D278D6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674E76-DFE8-897C-5C10-02CB1D87D3F5}"/>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5" name="Footer Placeholder 4">
            <a:extLst>
              <a:ext uri="{FF2B5EF4-FFF2-40B4-BE49-F238E27FC236}">
                <a16:creationId xmlns:a16="http://schemas.microsoft.com/office/drawing/2014/main" id="{FBC42DCF-D519-28B2-E923-3B382F36E26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DEFA6F-E5C0-B3D9-88C2-B1E6608FE919}"/>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1275639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2E393-C8DF-8440-4AF9-ECB2BFF617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8783172-9544-C353-BB5E-AF029C32A6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D2B59F-8A7B-A630-FCA1-8C9A8B9BE2AA}"/>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5" name="Footer Placeholder 4">
            <a:extLst>
              <a:ext uri="{FF2B5EF4-FFF2-40B4-BE49-F238E27FC236}">
                <a16:creationId xmlns:a16="http://schemas.microsoft.com/office/drawing/2014/main" id="{340B94A1-2E27-E170-3139-00EF766190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5615B2-9A46-4D4A-9710-D1DA84055523}"/>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26946546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1844-EE29-CD2E-9593-67DC351F210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F56770A-D97F-A8CB-D57D-772BC88E76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A056AE-44E0-629B-1AAA-09A9A35EAC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9430FBB-1D8A-12B1-8CE3-BF138777C47A}"/>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6" name="Footer Placeholder 5">
            <a:extLst>
              <a:ext uri="{FF2B5EF4-FFF2-40B4-BE49-F238E27FC236}">
                <a16:creationId xmlns:a16="http://schemas.microsoft.com/office/drawing/2014/main" id="{0C030D54-34B4-D5F8-9795-FF5E3B409AB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329C825-1353-9ADA-6DDB-1FC463098E95}"/>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1869298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30351-7F95-9485-9ABF-F557E7BD080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9BD986-805F-5539-AA05-06C8C5EBB6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6320241-0461-B038-4FCB-F6358FB7F42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91AA2F-F8F7-9894-825A-253F5B94AB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411933-8C68-E975-1DB8-2C39499804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AACC31D-8DF9-8047-371B-4F02189EBF7E}"/>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8" name="Footer Placeholder 7">
            <a:extLst>
              <a:ext uri="{FF2B5EF4-FFF2-40B4-BE49-F238E27FC236}">
                <a16:creationId xmlns:a16="http://schemas.microsoft.com/office/drawing/2014/main" id="{31C1098B-71D7-814A-9C04-DA7D100F082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E95DDF-C83A-C879-A56D-F560112AA5F5}"/>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3187001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903DE-F99A-9414-7245-4D07D033B97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83777EF-1124-E220-1154-8580E409D94C}"/>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4" name="Footer Placeholder 3">
            <a:extLst>
              <a:ext uri="{FF2B5EF4-FFF2-40B4-BE49-F238E27FC236}">
                <a16:creationId xmlns:a16="http://schemas.microsoft.com/office/drawing/2014/main" id="{045C91BF-B178-E540-7ABB-F29A0F20D2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36CC3B-64CD-605A-3F6F-88A1234B63FD}"/>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288625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DD04C4-5465-AF11-3FD3-3194958DCD6D}"/>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3" name="Footer Placeholder 2">
            <a:extLst>
              <a:ext uri="{FF2B5EF4-FFF2-40B4-BE49-F238E27FC236}">
                <a16:creationId xmlns:a16="http://schemas.microsoft.com/office/drawing/2014/main" id="{C3DD029A-700E-1652-1ED0-A9A42C42D2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AF5092B-7ACF-A858-1ACB-0950207B5CC9}"/>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1261062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7D791-5DD2-786F-A4C3-60992F3A9D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2B8692C-6CC9-6903-570F-463E7DEFF9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5D3EBA5-2ED3-0C3C-E3B6-DEA1AB9E1F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8B4C23-97A6-BA60-9DE2-3C3DB4E61FA6}"/>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6" name="Footer Placeholder 5">
            <a:extLst>
              <a:ext uri="{FF2B5EF4-FFF2-40B4-BE49-F238E27FC236}">
                <a16:creationId xmlns:a16="http://schemas.microsoft.com/office/drawing/2014/main" id="{E72D4BAF-DAAC-C6EE-7C4B-9E6C856E9BC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26D3D4A-C328-FE04-7D8B-11CFA2B6D67B}"/>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2775531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9933C-FFA9-3E1D-61FB-463A6AB2FF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EC3F39B-64DD-50FB-996B-E56D863839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6F540A1-57B9-D513-58BA-483217DD06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0DEEAE0-1355-E241-2BFF-5B2EFC473D9E}"/>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6" name="Footer Placeholder 5">
            <a:extLst>
              <a:ext uri="{FF2B5EF4-FFF2-40B4-BE49-F238E27FC236}">
                <a16:creationId xmlns:a16="http://schemas.microsoft.com/office/drawing/2014/main" id="{D1A34152-EF1A-1227-A1A3-33D24995CB0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60D5B5-69BB-EA29-C931-CFD54D66D549}"/>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24581667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1DA90-632E-A4F5-B051-1944E8D5114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CF740E-B3CA-A96E-382B-82A806C2AF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89A026-C5AE-F606-0E42-D4CB081F4629}"/>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5" name="Footer Placeholder 4">
            <a:extLst>
              <a:ext uri="{FF2B5EF4-FFF2-40B4-BE49-F238E27FC236}">
                <a16:creationId xmlns:a16="http://schemas.microsoft.com/office/drawing/2014/main" id="{AB214FBE-9944-961C-A6A2-546D236050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1D95A17-15AD-0262-9591-FAB716F7973C}"/>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21001794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7BAB8B8-1F80-A192-7A9B-7EC355C5F0C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6656F23-E30D-1321-FE48-498794DE2A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253882-AE7A-5A78-63C6-4FC57EAC513B}"/>
              </a:ext>
            </a:extLst>
          </p:cNvPr>
          <p:cNvSpPr>
            <a:spLocks noGrp="1"/>
          </p:cNvSpPr>
          <p:nvPr>
            <p:ph type="dt" sz="half" idx="10"/>
          </p:nvPr>
        </p:nvSpPr>
        <p:spPr/>
        <p:txBody>
          <a:bodyPr/>
          <a:lstStyle/>
          <a:p>
            <a:fld id="{1B09DBBF-7618-4739-839F-2B8707ECD5F0}" type="datetimeFigureOut">
              <a:rPr lang="en-IN" smtClean="0"/>
              <a:t>24-04-2026</a:t>
            </a:fld>
            <a:endParaRPr lang="en-IN"/>
          </a:p>
        </p:txBody>
      </p:sp>
      <p:sp>
        <p:nvSpPr>
          <p:cNvPr id="5" name="Footer Placeholder 4">
            <a:extLst>
              <a:ext uri="{FF2B5EF4-FFF2-40B4-BE49-F238E27FC236}">
                <a16:creationId xmlns:a16="http://schemas.microsoft.com/office/drawing/2014/main" id="{807CDF6D-360D-6C5B-FE47-5C4C13B467C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4228866-F909-389C-AFE2-EB0769E773DB}"/>
              </a:ext>
            </a:extLst>
          </p:cNvPr>
          <p:cNvSpPr>
            <a:spLocks noGrp="1"/>
          </p:cNvSpPr>
          <p:nvPr>
            <p:ph type="sldNum" sz="quarter" idx="12"/>
          </p:nvPr>
        </p:nvSpPr>
        <p:spPr/>
        <p:txBody>
          <a:bodyPr/>
          <a:lstStyle/>
          <a:p>
            <a:fld id="{B6A15ECC-9574-4981-A04A-86D5939A1524}" type="slidenum">
              <a:rPr lang="en-IN" smtClean="0"/>
              <a:t>‹#›</a:t>
            </a:fld>
            <a:endParaRPr lang="en-IN"/>
          </a:p>
        </p:txBody>
      </p:sp>
    </p:spTree>
    <p:extLst>
      <p:ext uri="{BB962C8B-B14F-4D97-AF65-F5344CB8AC3E}">
        <p14:creationId xmlns:p14="http://schemas.microsoft.com/office/powerpoint/2010/main" val="594080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80C5A3-F054-9B4D-B67A-E005A2C537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8792A7B-FACA-1C08-7034-B6DE095DE7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631BF5-6829-10C2-E7A6-12EC5D7C22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09DBBF-7618-4739-839F-2B8707ECD5F0}" type="datetimeFigureOut">
              <a:rPr lang="en-IN" smtClean="0"/>
              <a:t>24-04-2026</a:t>
            </a:fld>
            <a:endParaRPr lang="en-IN"/>
          </a:p>
        </p:txBody>
      </p:sp>
      <p:sp>
        <p:nvSpPr>
          <p:cNvPr id="5" name="Footer Placeholder 4">
            <a:extLst>
              <a:ext uri="{FF2B5EF4-FFF2-40B4-BE49-F238E27FC236}">
                <a16:creationId xmlns:a16="http://schemas.microsoft.com/office/drawing/2014/main" id="{75A686DA-73B9-4F2B-467A-42C0DF633F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988AE9C-FADB-2FA4-7EFB-38AF504729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A15ECC-9574-4981-A04A-86D5939A1524}" type="slidenum">
              <a:rPr lang="en-IN" smtClean="0"/>
              <a:t>‹#›</a:t>
            </a:fld>
            <a:endParaRPr lang="en-IN"/>
          </a:p>
        </p:txBody>
      </p:sp>
    </p:spTree>
    <p:extLst>
      <p:ext uri="{BB962C8B-B14F-4D97-AF65-F5344CB8AC3E}">
        <p14:creationId xmlns:p14="http://schemas.microsoft.com/office/powerpoint/2010/main" val="4244157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963A2-9E83-F5B4-0A74-62B7AD7CFD49}"/>
              </a:ext>
            </a:extLst>
          </p:cNvPr>
          <p:cNvSpPr>
            <a:spLocks noGrp="1"/>
          </p:cNvSpPr>
          <p:nvPr>
            <p:ph type="title"/>
          </p:nvPr>
        </p:nvSpPr>
        <p:spPr/>
        <p:txBody>
          <a:bodyPr>
            <a:normAutofit/>
          </a:bodyPr>
          <a:lstStyle/>
          <a:p>
            <a:pPr algn="ctr"/>
            <a:r>
              <a:rPr lang="en-IN" sz="4000" b="1" dirty="0"/>
              <a:t>Project Title</a:t>
            </a:r>
            <a:r>
              <a:rPr lang="en-IN" sz="4000" dirty="0"/>
              <a:t>: Food Image Classification using Transfer Learning</a:t>
            </a:r>
          </a:p>
        </p:txBody>
      </p:sp>
      <p:sp>
        <p:nvSpPr>
          <p:cNvPr id="3" name="Content Placeholder 2">
            <a:extLst>
              <a:ext uri="{FF2B5EF4-FFF2-40B4-BE49-F238E27FC236}">
                <a16:creationId xmlns:a16="http://schemas.microsoft.com/office/drawing/2014/main" id="{3B3C2E27-E2AD-49FA-FD3A-B1E7C1343A49}"/>
              </a:ext>
            </a:extLst>
          </p:cNvPr>
          <p:cNvSpPr>
            <a:spLocks noGrp="1"/>
          </p:cNvSpPr>
          <p:nvPr>
            <p:ph idx="1"/>
          </p:nvPr>
        </p:nvSpPr>
        <p:spPr>
          <a:xfrm>
            <a:off x="838200" y="1690688"/>
            <a:ext cx="10515600" cy="4486275"/>
          </a:xfrm>
        </p:spPr>
        <p:txBody>
          <a:bodyPr/>
          <a:lstStyle/>
          <a:p>
            <a:r>
              <a:rPr lang="en-IN" b="1" dirty="0"/>
              <a:t>Team Composition</a:t>
            </a:r>
            <a:r>
              <a:rPr lang="en-IN" dirty="0"/>
              <a:t>:</a:t>
            </a:r>
          </a:p>
          <a:p>
            <a:pPr lvl="1"/>
            <a:r>
              <a:rPr lang="en-IN" dirty="0"/>
              <a:t>Bala Swapnika Gopi</a:t>
            </a:r>
          </a:p>
          <a:p>
            <a:pPr lvl="1"/>
            <a:r>
              <a:rPr lang="en-IN" dirty="0"/>
              <a:t>Mounika </a:t>
            </a:r>
            <a:r>
              <a:rPr lang="en-IN" dirty="0" err="1"/>
              <a:t>Teppola</a:t>
            </a:r>
            <a:endParaRPr lang="en-IN" dirty="0"/>
          </a:p>
          <a:p>
            <a:r>
              <a:rPr lang="en-IN" b="1" dirty="0"/>
              <a:t>Application Idea:</a:t>
            </a:r>
          </a:p>
          <a:p>
            <a:pPr marL="457200" lvl="1" indent="0">
              <a:buNone/>
            </a:pPr>
            <a:r>
              <a:rPr lang="en-US" dirty="0"/>
              <a:t>This project focuses on classifying food images into different categories using a pretrained deep learning model and fine-tuning it for a new classification task. The application is meaningful because food image classification can be used in dietary tracking, restaurant automation and food recognition systems. We will study how transfer learning helps improve classification performance on a relatively small real-world dataset.</a:t>
            </a:r>
            <a:endParaRPr lang="en-IN" dirty="0"/>
          </a:p>
        </p:txBody>
      </p:sp>
    </p:spTree>
    <p:extLst>
      <p:ext uri="{BB962C8B-B14F-4D97-AF65-F5344CB8AC3E}">
        <p14:creationId xmlns:p14="http://schemas.microsoft.com/office/powerpoint/2010/main" val="1420253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BA713-617B-7BB9-EC6E-3F0F016ABB0A}"/>
              </a:ext>
            </a:extLst>
          </p:cNvPr>
          <p:cNvSpPr>
            <a:spLocks noGrp="1"/>
          </p:cNvSpPr>
          <p:nvPr>
            <p:ph type="title"/>
          </p:nvPr>
        </p:nvSpPr>
        <p:spPr>
          <a:xfrm flipV="1">
            <a:off x="838200" y="0"/>
            <a:ext cx="10515600" cy="365125"/>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1F1449BD-B724-7CB0-558E-CE131DC50871}"/>
              </a:ext>
            </a:extLst>
          </p:cNvPr>
          <p:cNvSpPr>
            <a:spLocks noGrp="1"/>
          </p:cNvSpPr>
          <p:nvPr>
            <p:ph idx="1"/>
          </p:nvPr>
        </p:nvSpPr>
        <p:spPr>
          <a:xfrm>
            <a:off x="530943" y="-1"/>
            <a:ext cx="11179276" cy="6754761"/>
          </a:xfrm>
        </p:spPr>
        <p:txBody>
          <a:bodyPr/>
          <a:lstStyle/>
          <a:p>
            <a:r>
              <a:rPr lang="en-IN" b="1" dirty="0"/>
              <a:t>Dataset</a:t>
            </a:r>
          </a:p>
          <a:p>
            <a:pPr marL="457200" lvl="1" indent="0">
              <a:buNone/>
            </a:pPr>
            <a:r>
              <a:rPr lang="en-US" dirty="0"/>
              <a:t>We will use self captured or web scraped real-world food image dataset around 100 -150 images with at least 3 classes. Our planned classes are:</a:t>
            </a:r>
          </a:p>
          <a:p>
            <a:pPr lvl="2">
              <a:buFont typeface="Wingdings" panose="05000000000000000000" pitchFamily="2" charset="2"/>
              <a:buChar char="Ø"/>
            </a:pPr>
            <a:r>
              <a:rPr lang="en-IN" sz="2400" dirty="0"/>
              <a:t>Pizza</a:t>
            </a:r>
          </a:p>
          <a:p>
            <a:pPr lvl="2">
              <a:buFont typeface="Wingdings" panose="05000000000000000000" pitchFamily="2" charset="2"/>
              <a:buChar char="Ø"/>
            </a:pPr>
            <a:r>
              <a:rPr lang="en-IN" sz="2400" dirty="0"/>
              <a:t>Sushi</a:t>
            </a:r>
          </a:p>
          <a:p>
            <a:pPr lvl="2">
              <a:buFont typeface="Wingdings" panose="05000000000000000000" pitchFamily="2" charset="2"/>
              <a:buChar char="Ø"/>
            </a:pPr>
            <a:r>
              <a:rPr lang="en-IN" sz="2400" dirty="0"/>
              <a:t>Burger</a:t>
            </a:r>
          </a:p>
          <a:p>
            <a:pPr lvl="2">
              <a:buFont typeface="Wingdings" panose="05000000000000000000" pitchFamily="2" charset="2"/>
              <a:buChar char="Ø"/>
            </a:pPr>
            <a:r>
              <a:rPr lang="en-IN" sz="2400" dirty="0"/>
              <a:t>Pasta</a:t>
            </a:r>
          </a:p>
          <a:p>
            <a:pPr lvl="2">
              <a:buFont typeface="Wingdings" panose="05000000000000000000" pitchFamily="2" charset="2"/>
              <a:buChar char="Ø"/>
            </a:pPr>
            <a:r>
              <a:rPr lang="en-IN" sz="2400" dirty="0"/>
              <a:t>Salad</a:t>
            </a:r>
          </a:p>
          <a:p>
            <a:pPr marL="457200" lvl="1" indent="0">
              <a:buNone/>
            </a:pPr>
            <a:r>
              <a:rPr lang="en-US" dirty="0"/>
              <a:t>The dataset will be split into training</a:t>
            </a:r>
            <a:r>
              <a:rPr lang="en-US"/>
              <a:t>, validation </a:t>
            </a:r>
            <a:r>
              <a:rPr lang="en-US" dirty="0"/>
              <a:t>and test sets with no overlap between splits. We will also document the number of images in each class.</a:t>
            </a:r>
            <a:endParaRPr lang="en-IN" dirty="0"/>
          </a:p>
          <a:p>
            <a:r>
              <a:rPr lang="en-IN" b="1" dirty="0"/>
              <a:t>Main Algorithm / Approach:</a:t>
            </a:r>
            <a:br>
              <a:rPr lang="en-IN" dirty="0"/>
            </a:br>
            <a:r>
              <a:rPr lang="en-US" sz="2400" dirty="0"/>
              <a:t>	We will use an ImageNet-pretrained backbone such as </a:t>
            </a:r>
            <a:r>
              <a:rPr lang="en-US" sz="2400" b="1" dirty="0"/>
              <a:t>ResNet-50</a:t>
            </a:r>
            <a:r>
              <a:rPr lang="en-US" sz="2400" dirty="0"/>
              <a:t> or     	</a:t>
            </a:r>
            <a:r>
              <a:rPr lang="en-US" sz="2400" b="1" dirty="0"/>
              <a:t>EfficientNet-B0</a:t>
            </a:r>
            <a:r>
              <a:rPr lang="en-US" sz="2400" dirty="0"/>
              <a:t> as our transfer learning model. The pretrained model will be 	fine-tuned for food image classification</a:t>
            </a:r>
          </a:p>
          <a:p>
            <a:r>
              <a:rPr lang="en-US" sz="2400" i="1" dirty="0"/>
              <a:t>Additional supporting models may be used if necessary to improve classification performance.</a:t>
            </a:r>
          </a:p>
          <a:p>
            <a:pPr marL="0" indent="0">
              <a:buNone/>
            </a:pPr>
            <a:endParaRPr lang="en-IN" sz="2400" b="1" dirty="0"/>
          </a:p>
        </p:txBody>
      </p:sp>
    </p:spTree>
    <p:extLst>
      <p:ext uri="{BB962C8B-B14F-4D97-AF65-F5344CB8AC3E}">
        <p14:creationId xmlns:p14="http://schemas.microsoft.com/office/powerpoint/2010/main" val="1504692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706</TotalTime>
  <Words>197</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Wingdings</vt:lpstr>
      <vt:lpstr>Office Theme</vt:lpstr>
      <vt:lpstr>Project Title: Food Image Classification using Transfer Learning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Mounika Teppola</dc:creator>
  <cp:lastModifiedBy>Bala Swapnika Gopi</cp:lastModifiedBy>
  <cp:revision>6</cp:revision>
  <dcterms:created xsi:type="dcterms:W3CDTF">2026-03-15T22:02:58Z</dcterms:created>
  <dcterms:modified xsi:type="dcterms:W3CDTF">2026-04-25T00:07:14Z</dcterms:modified>
</cp:coreProperties>
</file>