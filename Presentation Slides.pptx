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1" r:id="rId19"/>
    <p:sldId id="272" r:id="rId20"/>
    <p:sldId id="273" r:id="rId21"/>
  </p:sldIdLst>
  <p:sldSz cx="12192000" cy="6858000"/>
  <p:notesSz cx="6858000" cy="9144000"/>
  <p:embeddedFontLst>
    <p:embeddedFont>
      <p:font typeface="Afacad Flux" panose="020B0604020202020204" charset="0"/>
      <p:regular r:id="rId23"/>
      <p:bold r:id="rId24"/>
    </p:embeddedFont>
    <p:embeddedFont>
      <p:font typeface="Comfortaa" panose="020B0604020202020204" charset="0"/>
      <p:regular r:id="rId25"/>
      <p:bold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23AB07-B487-4C29-A2B7-FDC7703C0CC8}">
  <a:tblStyle styleId="{FA23AB07-B487-4C29-A2B7-FDC7703C0C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C8428724-4A14-C243-9F64-E1CF7E49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>
            <a:extLst>
              <a:ext uri="{FF2B5EF4-FFF2-40B4-BE49-F238E27FC236}">
                <a16:creationId xmlns:a16="http://schemas.microsoft.com/office/drawing/2014/main" id="{8F4715C1-6919-08AA-45AD-11735559A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B5F7CD03-41C8-DC8B-49EC-624EECE32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8177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F15D98DF-378B-1940-AF98-C79875BE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>
            <a:extLst>
              <a:ext uri="{FF2B5EF4-FFF2-40B4-BE49-F238E27FC236}">
                <a16:creationId xmlns:a16="http://schemas.microsoft.com/office/drawing/2014/main" id="{06674689-C799-EE1B-CCDD-D8FC4476BB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:notes">
            <a:extLst>
              <a:ext uri="{FF2B5EF4-FFF2-40B4-BE49-F238E27FC236}">
                <a16:creationId xmlns:a16="http://schemas.microsoft.com/office/drawing/2014/main" id="{E813A6F4-CB2C-E62A-5EAF-A38AC025E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6379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4717" y="4542243"/>
            <a:ext cx="4086225" cy="8819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4873C8-0634-43A0-2767-6C08041E0AF3}"/>
              </a:ext>
            </a:extLst>
          </p:cNvPr>
          <p:cNvSpPr txBox="1"/>
          <p:nvPr/>
        </p:nvSpPr>
        <p:spPr>
          <a:xfrm>
            <a:off x="3047729" y="1582341"/>
            <a:ext cx="6096542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4">
                    <a:lumMod val="75000"/>
                  </a:schemeClr>
                </a:solidFill>
                <a:latin typeface="Comfortaa"/>
                <a:ea typeface="Comfortaa"/>
                <a:cs typeface="Comfortaa"/>
                <a:sym typeface="Comfortaa"/>
              </a:rPr>
              <a:t>FOOD IMAGE</a:t>
            </a:r>
            <a:br>
              <a:rPr lang="en-US" sz="5000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000" b="1" dirty="0">
                <a:solidFill>
                  <a:schemeClr val="accent4">
                    <a:lumMod val="75000"/>
                  </a:schemeClr>
                </a:solidFill>
                <a:latin typeface="Comfortaa"/>
                <a:ea typeface="Comfortaa"/>
                <a:cs typeface="Comfortaa"/>
                <a:sym typeface="Comfortaa"/>
              </a:rPr>
              <a:t> CLASSIFICATION</a:t>
            </a:r>
            <a:endParaRPr lang="en-US" sz="5000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02B3-4C2E-3E6E-9554-5E8A0BD6E083}"/>
              </a:ext>
            </a:extLst>
          </p:cNvPr>
          <p:cNvSpPr txBox="1"/>
          <p:nvPr/>
        </p:nvSpPr>
        <p:spPr>
          <a:xfrm>
            <a:off x="3711266" y="3429000"/>
            <a:ext cx="50738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accent3">
                    <a:lumMod val="75000"/>
                  </a:schemeClr>
                </a:solidFill>
                <a:latin typeface="Comfortaa"/>
                <a:ea typeface="Comfortaa"/>
                <a:cs typeface="Comfortaa"/>
                <a:sym typeface="Comfortaa"/>
              </a:rPr>
              <a:t>Using Transfer Learning</a:t>
            </a:r>
            <a:endParaRPr lang="en-US" sz="300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3F000-F22F-DF2D-DE7F-0BECD2BF8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71" y="3281073"/>
            <a:ext cx="2143125" cy="2143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3E9A2-205B-EEFF-E3D0-8690CF688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070" y="3281072"/>
            <a:ext cx="2143125" cy="2143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9CC45C-0DA6-27E1-5D3B-F23D823CF909}"/>
              </a:ext>
            </a:extLst>
          </p:cNvPr>
          <p:cNvSpPr txBox="1"/>
          <p:nvPr/>
        </p:nvSpPr>
        <p:spPr>
          <a:xfrm>
            <a:off x="3696222" y="4660054"/>
            <a:ext cx="5383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Group 10</a:t>
            </a:r>
          </a:p>
          <a:p>
            <a:pPr algn="ctr"/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Mounika Teppola &amp; Bala Swapnika Gopi</a:t>
            </a: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0C3016-343C-DEFB-73B3-7A139B4FCCE6}"/>
              </a:ext>
            </a:extLst>
          </p:cNvPr>
          <p:cNvSpPr txBox="1"/>
          <p:nvPr/>
        </p:nvSpPr>
        <p:spPr>
          <a:xfrm>
            <a:off x="4936067" y="961540"/>
            <a:ext cx="2319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2"/>
                </a:solidFill>
              </a:rPr>
              <a:t>Final Project</a:t>
            </a:r>
            <a:endParaRPr lang="en-IN" sz="3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6076"/>
            <a:ext cx="3492549" cy="388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46076"/>
            <a:ext cx="3492549" cy="388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46076"/>
            <a:ext cx="3492549" cy="388024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04238" y="3412926"/>
            <a:ext cx="28270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Model Adaptation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50" y="4051101"/>
            <a:ext cx="2692449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Fine-tune a pretrained deep learning backbone for high-accuracy food category detection.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82538" y="3412926"/>
            <a:ext cx="2827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4A5568"/>
                </a:solidFill>
                <a:latin typeface="Afacad Flux"/>
                <a:cs typeface="Afacad Flux"/>
                <a:sym typeface="Afacad Flux"/>
              </a:rPr>
              <a:t>Data Transformation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4749849" y="4051101"/>
            <a:ext cx="2692449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Analyze the impact of data augmentation and synthetic data generation on performance.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60837" y="3412926"/>
            <a:ext cx="28270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Robustness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28149" y="4051101"/>
            <a:ext cx="269244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Analyze performance under distribution shifts: noise, blur, occlusion, lighting etc.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422326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43587" y="2422326"/>
            <a:ext cx="5048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2422326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Core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430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2298501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Self-Collected Samples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2936676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Classes:</a:t>
            </a: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Pizza, Sushi, Burger, Pasta, Salad, Spaghetti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485257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Balanced:</a:t>
            </a: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55 images per class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033837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Split:</a:t>
            </a: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Train (210), Val (60), Test (60)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15900" y="3901677"/>
            <a:ext cx="485775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 dirty="0">
                <a:solidFill>
                  <a:schemeClr val="accent6"/>
                </a:solidFill>
                <a:latin typeface="Afacad Flux"/>
                <a:ea typeface="Afacad Flux"/>
                <a:cs typeface="Afacad Flux"/>
                <a:sym typeface="Afacad Flux"/>
              </a:rPr>
              <a:t>330 </a:t>
            </a:r>
            <a:r>
              <a:rPr lang="en-US" sz="2500" b="1" i="0" u="none" strike="noStrike" cap="none" dirty="0">
                <a:solidFill>
                  <a:schemeClr val="accent6"/>
                </a:solidFill>
                <a:latin typeface="Afacad Flux"/>
                <a:ea typeface="Afacad Flux"/>
                <a:cs typeface="Afacad Flux"/>
                <a:sym typeface="Afacad Flux"/>
              </a:rPr>
              <a:t>Total Images</a:t>
            </a:r>
            <a:endParaRPr sz="2500" dirty="0">
              <a:solidFill>
                <a:schemeClr val="accent6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Dataset Overview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A9A2F1-617F-9CB6-75DF-2E8C3319A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219" y="1695342"/>
            <a:ext cx="2619375" cy="1743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59130-2B05-7827-CC4F-C45A462CC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340" y="3590411"/>
            <a:ext cx="1866220" cy="18662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46E33F-5365-59CE-187E-51D80FC465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3590411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430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671911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Why EfficientNet?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310086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Leverages compound scaling for better depth/width/resolution balance.</a:t>
            </a:r>
            <a:endParaRPr dirty="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1313" y="17430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685800" y="4100542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1999" y="4102447"/>
            <a:ext cx="550068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Lightweight compared with larger CNNs such as ResNet-50 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85800" y="4515772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4517677"/>
            <a:ext cx="50482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Highly effective for small datasets.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85800" y="4931003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4932908"/>
            <a:ext cx="50482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Pretrained on ImageNet for rich feature extraction.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Architecture: EfficientNet-B0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>
          <a:extLst>
            <a:ext uri="{FF2B5EF4-FFF2-40B4-BE49-F238E27FC236}">
              <a16:creationId xmlns:a16="http://schemas.microsoft.com/office/drawing/2014/main" id="{5918EF26-9757-1B89-8196-D05C5592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>
            <a:extLst>
              <a:ext uri="{FF2B5EF4-FFF2-40B4-BE49-F238E27FC236}">
                <a16:creationId xmlns:a16="http://schemas.microsoft.com/office/drawing/2014/main" id="{2D19D7BF-0D12-D5D3-F8BA-8101BC5024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/>
            </a:outerShdw>
            <a:softEdge rad="0"/>
          </a:effectLst>
        </p:spPr>
      </p:pic>
      <p:pic>
        <p:nvPicPr>
          <p:cNvPr id="128" name="Google Shape;128;p16" descr="image.png">
            <a:extLst>
              <a:ext uri="{FF2B5EF4-FFF2-40B4-BE49-F238E27FC236}">
                <a16:creationId xmlns:a16="http://schemas.microsoft.com/office/drawing/2014/main" id="{E0A906CF-B82E-994F-AA32-FAF991496D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430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34387E1B-6B82-72D7-1800-F388E4AC2DC6}"/>
              </a:ext>
            </a:extLst>
          </p:cNvPr>
          <p:cNvSpPr txBox="1"/>
          <p:nvPr/>
        </p:nvSpPr>
        <p:spPr>
          <a:xfrm>
            <a:off x="571500" y="571500"/>
            <a:ext cx="116014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System Architecture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61A8B-7D83-4B3C-E969-10C9919F5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85" y="2061775"/>
            <a:ext cx="11484429" cy="25757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7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71613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7086"/>
            <a:ext cx="2547937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167086"/>
            <a:ext cx="2547937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167086"/>
            <a:ext cx="2547937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167086"/>
            <a:ext cx="2547937" cy="34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27854" y="2871936"/>
            <a:ext cx="1835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Baseline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71550" y="3510111"/>
            <a:ext cx="1747837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Original dataset without any transformations or synthetic additions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761541" y="2871936"/>
            <a:ext cx="1835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Augmentation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805237" y="3510111"/>
            <a:ext cx="1747837" cy="1599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Applying real-world transformations to increase data variety.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95229" y="2871936"/>
            <a:ext cx="1835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Synthetic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38925" y="3510111"/>
            <a:ext cx="1747837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Including generated images in the dataset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428916" y="2871936"/>
            <a:ext cx="1835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Syn + Aug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472612" y="3510111"/>
            <a:ext cx="1747837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Synthetic data merged with augmentation techniques.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Experimental Setup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096000" y="1904615"/>
            <a:ext cx="56769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86.67%</a:t>
            </a:r>
            <a:endParaRPr sz="8000"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6248400" y="3049041"/>
            <a:ext cx="564070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Test Accuracy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248400" y="3687216"/>
            <a:ext cx="53721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Observations reveal fast convergence but high validation fluctuations.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562725" y="4612927"/>
            <a:ext cx="50577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Verdict: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Model struggles with generalization.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Baseline Performance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5E39AF-0B19-2B7B-5530-44244711D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063" y="2349701"/>
            <a:ext cx="1709738" cy="2569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2F03CA-90D5-9869-B356-F8BD6F3DC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6" y="2710415"/>
            <a:ext cx="2466975" cy="1847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44EA04-9FF3-415C-1B22-79787F8B1CB0}"/>
              </a:ext>
            </a:extLst>
          </p:cNvPr>
          <p:cNvSpPr txBox="1"/>
          <p:nvPr/>
        </p:nvSpPr>
        <p:spPr>
          <a:xfrm>
            <a:off x="1676400" y="1820677"/>
            <a:ext cx="19656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Sample Images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952500" y="1650950"/>
            <a:ext cx="4953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 dirty="0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93.3%</a:t>
            </a:r>
            <a:endParaRPr sz="7000"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952500" y="2705872"/>
            <a:ext cx="64008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Test Accuracy</a:t>
            </a:r>
            <a:endParaRPr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952500" y="3073303"/>
            <a:ext cx="55245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Transforms like Rotation, Flip and Jitter force the model to learn invariant features.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1047750" y="3877308"/>
            <a:ext cx="5905500" cy="1766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Tx/>
              <a:buChar char="-"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Slower initial learning phase. </a:t>
            </a:r>
          </a:p>
          <a:p>
            <a:pPr marL="285750" indent="-285750">
              <a:lnSpc>
                <a:spcPct val="140000"/>
              </a:lnSpc>
              <a:buFontTx/>
              <a:buChar char="-"/>
            </a:pPr>
            <a:r>
              <a:rPr lang="en-US" sz="1800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Significantly more stable validation curve. </a:t>
            </a:r>
          </a:p>
          <a:p>
            <a:pPr marL="285750" indent="-285750">
              <a:lnSpc>
                <a:spcPct val="140000"/>
              </a:lnSpc>
              <a:buFontTx/>
              <a:buChar char="-"/>
            </a:pPr>
            <a:r>
              <a:rPr lang="en-US" sz="1800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Reduction in overfitting gaps.</a:t>
            </a:r>
            <a:endParaRPr lang="en-US" sz="1800" dirty="0"/>
          </a:p>
          <a:p>
            <a:pPr>
              <a:lnSpc>
                <a:spcPct val="140000"/>
              </a:lnSpc>
            </a:pPr>
            <a:endParaRPr lang="en-US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Impact of Augmentation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ADB0B4-4A5D-0874-D7A6-5CFC2D39F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0" y="2705872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8C4005D-7BB4-D4A2-6959-443D0B987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2663253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2689A5-8477-7124-118A-4F8C341A670C}"/>
              </a:ext>
            </a:extLst>
          </p:cNvPr>
          <p:cNvSpPr txBox="1"/>
          <p:nvPr/>
        </p:nvSpPr>
        <p:spPr>
          <a:xfrm>
            <a:off x="6477000" y="2189559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Original Image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90DAF2-9849-AD1D-B125-16AB95B1ACC6}"/>
              </a:ext>
            </a:extLst>
          </p:cNvPr>
          <p:cNvSpPr txBox="1"/>
          <p:nvPr/>
        </p:nvSpPr>
        <p:spPr>
          <a:xfrm>
            <a:off x="9357456" y="2189559"/>
            <a:ext cx="2278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Augmented Image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372225" y="2030482"/>
            <a:ext cx="52959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 dirty="0">
                <a:solidFill>
                  <a:srgbClr val="4F46E5"/>
                </a:solidFill>
                <a:latin typeface="Comfortaa"/>
                <a:ea typeface="Comfortaa"/>
                <a:cs typeface="Comfortaa"/>
                <a:sym typeface="Comfortaa"/>
              </a:rPr>
              <a:t>93.33%</a:t>
            </a:r>
            <a:endParaRPr sz="7000"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6438900" y="2917626"/>
            <a:ext cx="544068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MixUp + CutMix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438900" y="3555801"/>
            <a:ext cx="51816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- Blending images from the same class maintains label integrity while increasing diversity.</a:t>
            </a:r>
            <a:endParaRPr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6438900" y="4424362"/>
            <a:ext cx="51816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- Achieves similar boosts to manual augmentation but with higher training complexity.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Synthetic Data Generation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AAEEFD-D341-D268-0B1B-4B7852A7D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915" y="1785257"/>
            <a:ext cx="4026693" cy="39793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571500" y="1756888"/>
            <a:ext cx="56769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 dirty="0">
                <a:solidFill>
                  <a:srgbClr val="DCFD8B"/>
                </a:solidFill>
                <a:latin typeface="Comfortaa"/>
                <a:ea typeface="Comfortaa"/>
                <a:cs typeface="Comfortaa"/>
                <a:sym typeface="Comfortaa"/>
              </a:rPr>
              <a:t>96.67%</a:t>
            </a:r>
            <a:endParaRPr lang="en-US" sz="7000"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731520" y="2812406"/>
            <a:ext cx="5640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Best Model</a:t>
            </a:r>
            <a:endParaRPr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731520" y="3219763"/>
            <a:ext cx="53721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Combining synthetic blending with geometric transforms yielded near perfect validation scores (~99%).</a:t>
            </a:r>
            <a:endParaRPr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731520" y="4080942"/>
            <a:ext cx="53721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Conclusion: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Best generalization and classification performance observed.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571500"/>
            <a:ext cx="116014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4F46E5"/>
                </a:solidFill>
                <a:latin typeface="Comfortaa"/>
                <a:ea typeface="Comfortaa"/>
                <a:cs typeface="Comfortaa"/>
                <a:sym typeface="Comfortaa"/>
              </a:rPr>
              <a:t>Synthetic + Augmentation 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86F62D-7260-1665-1E5F-910292B14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321" y="2448103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F4AD8B-6844-BA61-0FEE-1031FB60B3ED}"/>
              </a:ext>
            </a:extLst>
          </p:cNvPr>
          <p:cNvSpPr txBox="1"/>
          <p:nvPr/>
        </p:nvSpPr>
        <p:spPr>
          <a:xfrm>
            <a:off x="8142514" y="1909494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Sample Images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D78CEB7D-1D4B-E8A8-A2F5-294C1CC53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473" y="2448103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22"/>
          <p:cNvGraphicFramePr/>
          <p:nvPr>
            <p:extLst>
              <p:ext uri="{D42A27DB-BD31-4B8C-83A1-F6EECF244321}">
                <p14:modId xmlns:p14="http://schemas.microsoft.com/office/powerpoint/2010/main" val="1943379766"/>
              </p:ext>
            </p:extLst>
          </p:nvPr>
        </p:nvGraphicFramePr>
        <p:xfrm>
          <a:off x="571500" y="2090737"/>
          <a:ext cx="11049000" cy="3590875"/>
        </p:xfrm>
        <a:graphic>
          <a:graphicData uri="http://schemas.openxmlformats.org/drawingml/2006/table">
            <a:tbl>
              <a:tblPr firstRow="1" bandRow="1">
                <a:noFill/>
                <a:tableStyleId>{FA23AB07-B487-4C29-A2B7-FDC7703C0CC8}</a:tableStyleId>
              </a:tblPr>
              <a:tblGrid>
                <a:gridCol w="471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Configuration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Test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86.67%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E53E3E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Underperforming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Augmentation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93.33%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Stable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Synthetic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93.33%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Stable</a:t>
                      </a:r>
                      <a:endParaRPr lang="en-US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Synthetic + Augmentation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96.67%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38A169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Best Model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8" name="Google Shape;208;p22"/>
          <p:cNvSpPr/>
          <p:nvPr/>
        </p:nvSpPr>
        <p:spPr>
          <a:xfrm>
            <a:off x="571500" y="3586162"/>
            <a:ext cx="4715023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286523" y="3586162"/>
            <a:ext cx="2970460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8256984" y="3586162"/>
            <a:ext cx="33635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71500" y="4281487"/>
            <a:ext cx="4715023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286523" y="4281487"/>
            <a:ext cx="2970460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8256984" y="4281487"/>
            <a:ext cx="33635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71500" y="4976812"/>
            <a:ext cx="4715023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286523" y="4976812"/>
            <a:ext cx="2970460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8256984" y="4976812"/>
            <a:ext cx="33635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5672137"/>
            <a:ext cx="4715023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286523" y="5672137"/>
            <a:ext cx="2970460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8256984" y="5672137"/>
            <a:ext cx="33635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Results Comparison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3370" y="4876800"/>
            <a:ext cx="3472543" cy="176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4853" y="4876799"/>
            <a:ext cx="3472543" cy="161545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2121218" y="5100422"/>
            <a:ext cx="46605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Baseline Errors</a:t>
            </a:r>
            <a:endParaRPr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2043470" y="5509379"/>
            <a:ext cx="4438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Pasta → Pizza / Salad</a:t>
            </a:r>
            <a:endParaRPr dirty="0"/>
          </a:p>
        </p:txBody>
      </p:sp>
      <p:sp>
        <p:nvSpPr>
          <p:cNvPr id="230" name="Google Shape;230;p23"/>
          <p:cNvSpPr txBox="1"/>
          <p:nvPr/>
        </p:nvSpPr>
        <p:spPr>
          <a:xfrm>
            <a:off x="2343150" y="5791303"/>
            <a:ext cx="4438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Sushi → Burger</a:t>
            </a:r>
            <a:endParaRPr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2121218" y="6066712"/>
            <a:ext cx="4438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Spaghetti → Salad</a:t>
            </a:r>
            <a:endParaRPr dirty="0"/>
          </a:p>
        </p:txBody>
      </p:sp>
      <p:sp>
        <p:nvSpPr>
          <p:cNvPr id="232" name="Google Shape;232;p23"/>
          <p:cNvSpPr txBox="1"/>
          <p:nvPr/>
        </p:nvSpPr>
        <p:spPr>
          <a:xfrm>
            <a:off x="8325462" y="5084594"/>
            <a:ext cx="46605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Best Model</a:t>
            </a:r>
            <a:endParaRPr dirty="0"/>
          </a:p>
        </p:txBody>
      </p:sp>
      <p:sp>
        <p:nvSpPr>
          <p:cNvPr id="233" name="Google Shape;233;p23"/>
          <p:cNvSpPr txBox="1"/>
          <p:nvPr/>
        </p:nvSpPr>
        <p:spPr>
          <a:xfrm>
            <a:off x="7734300" y="5408312"/>
            <a:ext cx="4438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Almost perfect classification</a:t>
            </a:r>
            <a:endParaRPr dirty="0"/>
          </a:p>
        </p:txBody>
      </p:sp>
      <p:sp>
        <p:nvSpPr>
          <p:cNvPr id="234" name="Google Shape;234;p23"/>
          <p:cNvSpPr txBox="1"/>
          <p:nvPr/>
        </p:nvSpPr>
        <p:spPr>
          <a:xfrm>
            <a:off x="7831098" y="5669369"/>
            <a:ext cx="4438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Very few misclassifications</a:t>
            </a:r>
            <a:endParaRPr dirty="0"/>
          </a:p>
        </p:txBody>
      </p:sp>
      <p:sp>
        <p:nvSpPr>
          <p:cNvPr id="235" name="Google Shape;235;p23"/>
          <p:cNvSpPr txBox="1"/>
          <p:nvPr/>
        </p:nvSpPr>
        <p:spPr>
          <a:xfrm>
            <a:off x="7927896" y="5936105"/>
            <a:ext cx="4438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Superior class separation.</a:t>
            </a:r>
            <a:endParaRPr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Confusion Matrix Insights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001A15-B561-A77E-660D-C20E4C423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70" y="1255217"/>
            <a:ext cx="4000781" cy="34712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6C1054-471E-100B-3AE1-75664C38C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717" y="1248335"/>
            <a:ext cx="3838813" cy="34684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430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571500" y="2511921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Pasta Challenge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3150096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Pasta remains the hardest class to classify correctly across all models.</a:t>
            </a:r>
            <a:endParaRPr/>
          </a:p>
        </p:txBody>
      </p:sp>
      <p:pic>
        <p:nvPicPr>
          <p:cNvPr id="245" name="Google Shape;24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430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685800" y="3940552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762000" y="3942457"/>
            <a:ext cx="50482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Shared texture with Salad and Pizza toppings.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85800" y="4355782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62000" y="4357687"/>
            <a:ext cx="50482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Fine-grained differences are lost in low resolution.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685800" y="4771012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762000" y="4772917"/>
            <a:ext cx="50482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Model often confuses pasta strands with salad components.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Detailed Error Analysis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Error Summary Count</a:t>
            </a:r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8B73F5-B483-6516-0DDD-46BF2F592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81788"/>
              </p:ext>
            </p:extLst>
          </p:nvPr>
        </p:nvGraphicFramePr>
        <p:xfrm>
          <a:off x="1846942" y="2046516"/>
          <a:ext cx="8977085" cy="3551240"/>
        </p:xfrm>
        <a:graphic>
          <a:graphicData uri="http://schemas.openxmlformats.org/drawingml/2006/table">
            <a:tbl>
              <a:tblPr/>
              <a:tblGrid>
                <a:gridCol w="2430004">
                  <a:extLst>
                    <a:ext uri="{9D8B030D-6E8A-4147-A177-3AD203B41FA5}">
                      <a16:colId xmlns:a16="http://schemas.microsoft.com/office/drawing/2014/main" val="1442499019"/>
                    </a:ext>
                  </a:extLst>
                </a:gridCol>
                <a:gridCol w="3049114">
                  <a:extLst>
                    <a:ext uri="{9D8B030D-6E8A-4147-A177-3AD203B41FA5}">
                      <a16:colId xmlns:a16="http://schemas.microsoft.com/office/drawing/2014/main" val="2867879590"/>
                    </a:ext>
                  </a:extLst>
                </a:gridCol>
                <a:gridCol w="3497967">
                  <a:extLst>
                    <a:ext uri="{9D8B030D-6E8A-4147-A177-3AD203B41FA5}">
                      <a16:colId xmlns:a16="http://schemas.microsoft.com/office/drawing/2014/main" val="3888428915"/>
                    </a:ext>
                  </a:extLst>
                </a:gridCol>
              </a:tblGrid>
              <a:tr h="7102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5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True Class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67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5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Baseline Errors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9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5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Best Model Errors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797874"/>
                  </a:ext>
                </a:extLst>
              </a:tr>
              <a:tr h="71024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2D3436"/>
                          </a:solidFill>
                          <a:effectLst/>
                          <a:latin typeface="Poppins" panose="00000500000000000000" pitchFamily="2" charset="0"/>
                        </a:rPr>
                        <a:t>                    Pasta</a:t>
                      </a:r>
                      <a:endParaRPr lang="en-IN" dirty="0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E17055"/>
                          </a:solidFill>
                          <a:effectLst/>
                          <a:latin typeface="Lato" panose="020F0502020204030203" pitchFamily="34" charset="0"/>
                        </a:rPr>
                        <a:t>3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B894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51917"/>
                  </a:ext>
                </a:extLst>
              </a:tr>
              <a:tr h="71024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2D3436"/>
                          </a:solidFill>
                          <a:effectLst/>
                          <a:latin typeface="Poppins" panose="00000500000000000000" pitchFamily="2" charset="0"/>
                        </a:rPr>
                        <a:t>                    Pizza</a:t>
                      </a:r>
                      <a:endParaRPr lang="en-IN" dirty="0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E17055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B894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44702"/>
                  </a:ext>
                </a:extLst>
              </a:tr>
              <a:tr h="71024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2D3436"/>
                          </a:solidFill>
                          <a:effectLst/>
                          <a:latin typeface="Poppins" panose="00000500000000000000" pitchFamily="2" charset="0"/>
                        </a:rPr>
                        <a:t>              Spaghetti</a:t>
                      </a:r>
                      <a:endParaRPr lang="en-IN" dirty="0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E17055"/>
                          </a:solidFill>
                          <a:effectLst/>
                          <a:latin typeface="Lato" panose="020F0502020204030203" pitchFamily="34" charset="0"/>
                        </a:rPr>
                        <a:t>1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B894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72263"/>
                  </a:ext>
                </a:extLst>
              </a:tr>
              <a:tr h="71024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2D3436"/>
                          </a:solidFill>
                          <a:effectLst/>
                          <a:latin typeface="Poppins" panose="00000500000000000000" pitchFamily="2" charset="0"/>
                        </a:rPr>
                        <a:t>                   Sushi</a:t>
                      </a:r>
                      <a:endParaRPr lang="en-IN" dirty="0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E17055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  <a:endParaRPr lang="en-IN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B894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IN" dirty="0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189411"/>
                  </a:ext>
                </a:extLst>
              </a:tr>
            </a:tbl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5D5A8795-F17B-2DA1-9FE7-0ABF93BC1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24971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26"/>
          <p:cNvGraphicFramePr/>
          <p:nvPr>
            <p:extLst>
              <p:ext uri="{D42A27DB-BD31-4B8C-83A1-F6EECF244321}">
                <p14:modId xmlns:p14="http://schemas.microsoft.com/office/powerpoint/2010/main" val="4256271305"/>
              </p:ext>
            </p:extLst>
          </p:nvPr>
        </p:nvGraphicFramePr>
        <p:xfrm>
          <a:off x="571500" y="1743075"/>
          <a:ext cx="11049000" cy="4384675"/>
        </p:xfrm>
        <a:graphic>
          <a:graphicData uri="http://schemas.openxmlformats.org/drawingml/2006/table">
            <a:tbl>
              <a:tblPr firstRow="1" bandRow="1">
                <a:noFill/>
                <a:tableStyleId>{FA23AB07-B487-4C29-A2B7-FDC7703C0CC8}</a:tableStyleId>
              </a:tblPr>
              <a:tblGrid>
                <a:gridCol w="325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Condition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Severity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Clean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96.67%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Blur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95.00%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8A169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Low 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Occlusion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96.67%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No 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Noise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66.67%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E53E3E"/>
                        </a:solidFill>
                        <a:latin typeface="Afacad Flux"/>
                        <a:ea typeface="Afacad Flux"/>
                        <a:cs typeface="Afacad Flux"/>
                        <a:sym typeface="Afacad Flux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E53E3E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Critical Weakness</a:t>
                      </a:r>
                      <a:endParaRPr lang="en-US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Lighting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A5568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61.67%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E53E3E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Critical Weakness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6" name="Google Shape;266;p26"/>
          <p:cNvSpPr/>
          <p:nvPr/>
        </p:nvSpPr>
        <p:spPr>
          <a:xfrm>
            <a:off x="571500" y="3238500"/>
            <a:ext cx="325219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3823692" y="3238500"/>
            <a:ext cx="3079849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6903541" y="3238500"/>
            <a:ext cx="47169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71500" y="3933825"/>
            <a:ext cx="325219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3823692" y="3933825"/>
            <a:ext cx="3079849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6903541" y="3933825"/>
            <a:ext cx="47169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71500" y="4629150"/>
            <a:ext cx="325219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3823692" y="4629150"/>
            <a:ext cx="3079849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6903541" y="4629150"/>
            <a:ext cx="47169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571500" y="5324475"/>
            <a:ext cx="325219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3823692" y="5324475"/>
            <a:ext cx="3079849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6903541" y="5324475"/>
            <a:ext cx="47169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6019800"/>
            <a:ext cx="325219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3823692" y="6019800"/>
            <a:ext cx="3079849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6903541" y="6019800"/>
            <a:ext cx="47169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Robustness Testing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6066"/>
            <a:ext cx="3492549" cy="3560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06066"/>
            <a:ext cx="3492549" cy="3560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06066"/>
            <a:ext cx="3492549" cy="356026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904238" y="3572916"/>
            <a:ext cx="28270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Lighting (61.67%)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971550" y="4211091"/>
            <a:ext cx="269244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Model relies heavily on color distributions that shift in extreme light.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4682538" y="3572916"/>
            <a:ext cx="28270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Noise (67%)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4749849" y="4211091"/>
            <a:ext cx="269244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Pixel-level disturbances significantly affect prediction accuracy.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8460837" y="3572916"/>
            <a:ext cx="28270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Structural Strength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8528149" y="4211091"/>
            <a:ext cx="269244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Blur and Occlusion barely drop accuracy. Model prioritizes global structures.</a:t>
            </a:r>
            <a:endParaRPr/>
          </a:p>
        </p:txBody>
      </p:sp>
      <p:pic>
        <p:nvPicPr>
          <p:cNvPr id="296" name="Google Shape;29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3387" y="2582316"/>
            <a:ext cx="4286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582316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0449" y="2582316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Robustness Insights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>
          <a:extLst>
            <a:ext uri="{FF2B5EF4-FFF2-40B4-BE49-F238E27FC236}">
              <a16:creationId xmlns:a16="http://schemas.microsoft.com/office/drawing/2014/main" id="{E9B5B243-2247-F7F1-C5B1-87D06BD6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 descr="image.png">
            <a:extLst>
              <a:ext uri="{FF2B5EF4-FFF2-40B4-BE49-F238E27FC236}">
                <a16:creationId xmlns:a16="http://schemas.microsoft.com/office/drawing/2014/main" id="{D0034723-437F-665E-D3FB-0BBCC92640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>
            <a:extLst>
              <a:ext uri="{FF2B5EF4-FFF2-40B4-BE49-F238E27FC236}">
                <a16:creationId xmlns:a16="http://schemas.microsoft.com/office/drawing/2014/main" id="{470157C2-36EE-0503-2FC9-D6B388BBFC16}"/>
              </a:ext>
            </a:extLst>
          </p:cNvPr>
          <p:cNvSpPr txBox="1"/>
          <p:nvPr/>
        </p:nvSpPr>
        <p:spPr>
          <a:xfrm>
            <a:off x="571500" y="571500"/>
            <a:ext cx="116014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Demo UI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AE5824-F130-4F50-85F4-431E137272EF}"/>
              </a:ext>
            </a:extLst>
          </p:cNvPr>
          <p:cNvSpPr txBox="1"/>
          <p:nvPr/>
        </p:nvSpPr>
        <p:spPr>
          <a:xfrm>
            <a:off x="684507" y="1148581"/>
            <a:ext cx="11375435" cy="1050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/>
                </a:solidFill>
              </a:rPr>
              <a:t>- </a:t>
            </a:r>
            <a:r>
              <a:rPr lang="en-US" sz="2000" dirty="0">
                <a:solidFill>
                  <a:schemeClr val="bg2"/>
                </a:solidFill>
              </a:rPr>
              <a:t>Designed an intuitive web interface for deploying the trained classification model.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</a:rPr>
              <a:t>- Allows users to upload images and instantly view predictions with confidence metrics</a:t>
            </a:r>
            <a:endParaRPr lang="en-IN" sz="2000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8A694A-7682-DE9D-3256-717369AB9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206" y="2504911"/>
            <a:ext cx="8035552" cy="40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96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8"/>
          <p:cNvSpPr txBox="1"/>
          <p:nvPr/>
        </p:nvSpPr>
        <p:spPr>
          <a:xfrm>
            <a:off x="595313" y="2654496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Limitations</a:t>
            </a:r>
            <a:endParaRPr dirty="0"/>
          </a:p>
        </p:txBody>
      </p:sp>
      <p:sp>
        <p:nvSpPr>
          <p:cNvPr id="306" name="Google Shape;306;p28"/>
          <p:cNvSpPr txBox="1"/>
          <p:nvPr/>
        </p:nvSpPr>
        <p:spPr>
          <a:xfrm>
            <a:off x="496991" y="3327201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 Lighting variations drop (61.67%)</a:t>
            </a:r>
            <a:endParaRPr dirty="0"/>
          </a:p>
        </p:txBody>
      </p:sp>
      <p:sp>
        <p:nvSpPr>
          <p:cNvPr id="307" name="Google Shape;307;p28"/>
          <p:cNvSpPr txBox="1"/>
          <p:nvPr/>
        </p:nvSpPr>
        <p:spPr>
          <a:xfrm>
            <a:off x="496991" y="387578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 Sensitive to noise (66.67%)</a:t>
            </a:r>
            <a:endParaRPr dirty="0"/>
          </a:p>
        </p:txBody>
      </p:sp>
      <p:sp>
        <p:nvSpPr>
          <p:cNvPr id="308" name="Google Shape;308;p28"/>
          <p:cNvSpPr txBox="1"/>
          <p:nvPr/>
        </p:nvSpPr>
        <p:spPr>
          <a:xfrm>
            <a:off x="496991" y="442436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 Confusion in similar classes (Pasta vs Pizza)</a:t>
            </a:r>
            <a:endParaRPr dirty="0"/>
          </a:p>
        </p:txBody>
      </p:sp>
      <p:sp>
        <p:nvSpPr>
          <p:cNvPr id="309" name="Google Shape;309;p28"/>
          <p:cNvSpPr txBox="1"/>
          <p:nvPr/>
        </p:nvSpPr>
        <p:spPr>
          <a:xfrm>
            <a:off x="6381750" y="2689026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Future Work</a:t>
            </a:r>
            <a:endParaRPr dirty="0"/>
          </a:p>
        </p:txBody>
      </p:sp>
      <p:sp>
        <p:nvSpPr>
          <p:cNvPr id="310" name="Google Shape;310;p28"/>
          <p:cNvSpPr txBox="1"/>
          <p:nvPr/>
        </p:nvSpPr>
        <p:spPr>
          <a:xfrm>
            <a:off x="6381750" y="3327201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 Add lighting-based augmentation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381750" y="387578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 Improve synthetic data realism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6381750" y="442436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 Increase dataset diversity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6381750" y="497294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 Explore EfficientNet variants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Limitations &amp; Future Work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9"/>
          <p:cNvSpPr txBox="1"/>
          <p:nvPr/>
        </p:nvSpPr>
        <p:spPr>
          <a:xfrm>
            <a:off x="1143000" y="2893814"/>
            <a:ext cx="104775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Transfer Learning Power:</a:t>
            </a: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EfficientNet-B0 adapted perfectly to small, custom datasets with minimal training time.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1143000" y="3499544"/>
            <a:ext cx="104775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Data Strategy:</a:t>
            </a:r>
            <a:r>
              <a:rPr lang="en-US" sz="1800" b="0" i="0" u="none" strike="noStrike" cap="non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Combining synthetic data (diversity) with augmentation (robustness) is the winning formula.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1143000" y="4105275"/>
            <a:ext cx="104775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Future Challenges:</a:t>
            </a:r>
            <a:r>
              <a:rPr lang="en-US" sz="1800" b="0" i="0" u="none" strike="noStrike" cap="none" dirty="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Lighting variations and fine grained texture similarities (Pasta vs Pizza) remain key research areas.</a:t>
            </a:r>
            <a:endParaRPr dirty="0"/>
          </a:p>
        </p:txBody>
      </p:sp>
      <p:pic>
        <p:nvPicPr>
          <p:cNvPr id="323" name="Google Shape;32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6676"/>
            <a:ext cx="3714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42407"/>
            <a:ext cx="3714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48137"/>
            <a:ext cx="3714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Summary of Findings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84EE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5125" y="4316759"/>
            <a:ext cx="6381750" cy="85338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 txBox="1"/>
          <p:nvPr/>
        </p:nvSpPr>
        <p:spPr>
          <a:xfrm>
            <a:off x="2745581" y="1592609"/>
            <a:ext cx="670083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THANK YOU!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2905125" y="3021359"/>
            <a:ext cx="63817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Questions?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2905125" y="4850159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Mounika Teppola &amp; Bala Swapnika Gopi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664</Words>
  <Application>Microsoft Office PowerPoint</Application>
  <PresentationFormat>Widescreen</PresentationFormat>
  <Paragraphs>160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Comfortaa</vt:lpstr>
      <vt:lpstr>Afacad Flux</vt:lpstr>
      <vt:lpstr>Lato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Bala Swapnika Gopi</dc:creator>
  <cp:lastModifiedBy>Mounika Teppola</cp:lastModifiedBy>
  <cp:revision>9</cp:revision>
  <dcterms:modified xsi:type="dcterms:W3CDTF">2026-05-04T00:00:37Z</dcterms:modified>
</cp:coreProperties>
</file>